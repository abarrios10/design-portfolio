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embeddedFontLst>
    <p:embeddedFont>
      <p:font typeface="Proxima Nova"/>
      <p:regular r:id="rId13"/>
      <p:bold r:id="rId14"/>
      <p:italic r:id="rId15"/>
      <p:boldItalic r:id="rId16"/>
    </p:embeddedFont>
    <p:embeddedFont>
      <p:font typeface="Share Tech"/>
      <p:regular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E2A1CBE-B525-41E7-9BD4-B9B5025257A0}">
  <a:tblStyle styleId="{9E2A1CBE-B525-41E7-9BD4-B9B5025257A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ProximaNova-regular.fntdata"/><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ProximaNova-italic.fntdata"/><Relationship Id="rId14" Type="http://schemas.openxmlformats.org/officeDocument/2006/relationships/font" Target="fonts/ProximaNova-bold.fntdata"/><Relationship Id="rId17" Type="http://schemas.openxmlformats.org/officeDocument/2006/relationships/font" Target="fonts/ShareTech-regular.fntdata"/><Relationship Id="rId16" Type="http://schemas.openxmlformats.org/officeDocument/2006/relationships/font" Target="fonts/ProximaNova-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149301e7b7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149301e7b7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149301e7b7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149301e7b7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149301e7b7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149301e7b7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149301e7b7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149301e7b7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15e79f5361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15e79f5361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drive.google.com/file/d/1kYtPu9pSt7mdjjr_NPV2B79ub998UXvm/view" TargetMode="External"/><Relationship Id="rId4"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ME 140L Final Project</a:t>
            </a:r>
            <a:endParaRPr/>
          </a:p>
        </p:txBody>
      </p:sp>
      <p:sp>
        <p:nvSpPr>
          <p:cNvPr id="60" name="Google Shape;60;p13"/>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Andres Barrios and Rhea Patkar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4000">
                <a:latin typeface="Share Tech"/>
                <a:ea typeface="Share Tech"/>
                <a:cs typeface="Share Tech"/>
                <a:sym typeface="Share Tech"/>
              </a:rPr>
              <a:t>Functionality + Circuit Overview</a:t>
            </a:r>
            <a:endParaRPr sz="4000">
              <a:latin typeface="Share Tech"/>
              <a:ea typeface="Share Tech"/>
              <a:cs typeface="Share Tech"/>
              <a:sym typeface="Share Tech"/>
            </a:endParaRPr>
          </a:p>
          <a:p>
            <a:pPr indent="0" lvl="0" marL="0" rtl="0" algn="l">
              <a:spcBef>
                <a:spcPts val="0"/>
              </a:spcBef>
              <a:spcAft>
                <a:spcPts val="0"/>
              </a:spcAft>
              <a:buNone/>
            </a:pPr>
            <a:r>
              <a:t/>
            </a:r>
            <a:endParaRPr/>
          </a:p>
        </p:txBody>
      </p:sp>
      <p:sp>
        <p:nvSpPr>
          <p:cNvPr id="66" name="Google Shape;66;p14"/>
          <p:cNvSpPr txBox="1"/>
          <p:nvPr>
            <p:ph idx="1" type="body"/>
          </p:nvPr>
        </p:nvSpPr>
        <p:spPr>
          <a:xfrm>
            <a:off x="209625" y="1250325"/>
            <a:ext cx="25104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1" lang="en" u="sng"/>
              <a:t>Photos of Setup:</a:t>
            </a:r>
            <a:endParaRPr b="1" u="sng"/>
          </a:p>
        </p:txBody>
      </p:sp>
      <p:pic>
        <p:nvPicPr>
          <p:cNvPr id="67" name="Google Shape;67;p14"/>
          <p:cNvPicPr preferRelativeResize="0"/>
          <p:nvPr/>
        </p:nvPicPr>
        <p:blipFill>
          <a:blip r:embed="rId3">
            <a:alphaModFix/>
          </a:blip>
          <a:stretch>
            <a:fillRect/>
          </a:stretch>
        </p:blipFill>
        <p:spPr>
          <a:xfrm rot="-5400000">
            <a:off x="636137" y="1533738"/>
            <a:ext cx="1657426" cy="2191374"/>
          </a:xfrm>
          <a:prstGeom prst="rect">
            <a:avLst/>
          </a:prstGeom>
          <a:noFill/>
          <a:ln cap="flat" cmpd="sng" w="19050">
            <a:solidFill>
              <a:schemeClr val="dk1"/>
            </a:solidFill>
            <a:prstDash val="solid"/>
            <a:round/>
            <a:headEnd len="sm" w="sm" type="none"/>
            <a:tailEnd len="sm" w="sm" type="none"/>
          </a:ln>
        </p:spPr>
      </p:pic>
      <p:pic>
        <p:nvPicPr>
          <p:cNvPr id="68" name="Google Shape;68;p14"/>
          <p:cNvPicPr preferRelativeResize="0"/>
          <p:nvPr/>
        </p:nvPicPr>
        <p:blipFill rotWithShape="1">
          <a:blip r:embed="rId4">
            <a:alphaModFix/>
          </a:blip>
          <a:srcRect b="9145" l="0" r="0" t="7715"/>
          <a:stretch/>
        </p:blipFill>
        <p:spPr>
          <a:xfrm>
            <a:off x="2802613" y="1250325"/>
            <a:ext cx="2906374" cy="3220699"/>
          </a:xfrm>
          <a:prstGeom prst="rect">
            <a:avLst/>
          </a:prstGeom>
          <a:noFill/>
          <a:ln cap="flat" cmpd="sng" w="19050">
            <a:solidFill>
              <a:schemeClr val="dk1"/>
            </a:solidFill>
            <a:prstDash val="solid"/>
            <a:round/>
            <a:headEnd len="sm" w="sm" type="none"/>
            <a:tailEnd len="sm" w="sm" type="none"/>
          </a:ln>
        </p:spPr>
      </p:pic>
      <p:sp>
        <p:nvSpPr>
          <p:cNvPr id="69" name="Google Shape;69;p14"/>
          <p:cNvSpPr txBox="1"/>
          <p:nvPr/>
        </p:nvSpPr>
        <p:spPr>
          <a:xfrm>
            <a:off x="5893400" y="1250325"/>
            <a:ext cx="3079800" cy="2067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u="sng">
                <a:solidFill>
                  <a:schemeClr val="accent3"/>
                </a:solidFill>
                <a:latin typeface="Proxima Nova"/>
                <a:ea typeface="Proxima Nova"/>
                <a:cs typeface="Proxima Nova"/>
                <a:sym typeface="Proxima Nova"/>
              </a:rPr>
              <a:t>Components Used:</a:t>
            </a:r>
            <a:endParaRPr b="1" sz="1600" u="sng">
              <a:solidFill>
                <a:schemeClr val="accent3"/>
              </a:solidFill>
              <a:latin typeface="Proxima Nova"/>
              <a:ea typeface="Proxima Nova"/>
              <a:cs typeface="Proxima Nova"/>
              <a:sym typeface="Proxima Nova"/>
            </a:endParaRPr>
          </a:p>
          <a:p>
            <a:pPr indent="-317500" lvl="0" marL="457200" rtl="0" algn="l">
              <a:spcBef>
                <a:spcPts val="1000"/>
              </a:spcBef>
              <a:spcAft>
                <a:spcPts val="0"/>
              </a:spcAft>
              <a:buClr>
                <a:schemeClr val="accent3"/>
              </a:buClr>
              <a:buSzPts val="1400"/>
              <a:buFont typeface="Proxima Nova"/>
              <a:buChar char="●"/>
            </a:pPr>
            <a:r>
              <a:rPr lang="en">
                <a:solidFill>
                  <a:schemeClr val="accent3"/>
                </a:solidFill>
                <a:latin typeface="Proxima Nova"/>
                <a:ea typeface="Proxima Nova"/>
                <a:cs typeface="Proxima Nova"/>
                <a:sym typeface="Proxima Nova"/>
              </a:rPr>
              <a:t>1 Diode </a:t>
            </a:r>
            <a:endParaRPr>
              <a:solidFill>
                <a:schemeClr val="accent3"/>
              </a:solidFill>
              <a:latin typeface="Proxima Nova"/>
              <a:ea typeface="Proxima Nova"/>
              <a:cs typeface="Proxima Nova"/>
              <a:sym typeface="Proxima Nova"/>
            </a:endParaRPr>
          </a:p>
          <a:p>
            <a:pPr indent="-317500" lvl="0" marL="457200" rtl="0" algn="l">
              <a:spcBef>
                <a:spcPts val="0"/>
              </a:spcBef>
              <a:spcAft>
                <a:spcPts val="0"/>
              </a:spcAft>
              <a:buClr>
                <a:schemeClr val="accent3"/>
              </a:buClr>
              <a:buSzPts val="1400"/>
              <a:buFont typeface="Proxima Nova"/>
              <a:buChar char="●"/>
            </a:pPr>
            <a:r>
              <a:rPr lang="en">
                <a:solidFill>
                  <a:schemeClr val="accent3"/>
                </a:solidFill>
                <a:latin typeface="Proxima Nova"/>
                <a:ea typeface="Proxima Nova"/>
                <a:cs typeface="Proxima Nova"/>
                <a:sym typeface="Proxima Nova"/>
              </a:rPr>
              <a:t>1 Capacitor (1 100µF)</a:t>
            </a:r>
            <a:endParaRPr>
              <a:solidFill>
                <a:schemeClr val="accent3"/>
              </a:solidFill>
              <a:latin typeface="Proxima Nova"/>
              <a:ea typeface="Proxima Nova"/>
              <a:cs typeface="Proxima Nova"/>
              <a:sym typeface="Proxima Nova"/>
            </a:endParaRPr>
          </a:p>
          <a:p>
            <a:pPr indent="-317500" lvl="0" marL="457200" rtl="0" algn="l">
              <a:spcBef>
                <a:spcPts val="0"/>
              </a:spcBef>
              <a:spcAft>
                <a:spcPts val="0"/>
              </a:spcAft>
              <a:buClr>
                <a:schemeClr val="accent3"/>
              </a:buClr>
              <a:buSzPts val="1400"/>
              <a:buFont typeface="Proxima Nova"/>
              <a:buChar char="●"/>
            </a:pPr>
            <a:r>
              <a:rPr lang="en">
                <a:solidFill>
                  <a:schemeClr val="accent3"/>
                </a:solidFill>
                <a:latin typeface="Proxima Nova"/>
                <a:ea typeface="Proxima Nova"/>
                <a:cs typeface="Proxima Nova"/>
                <a:sym typeface="Proxima Nova"/>
              </a:rPr>
              <a:t>5 Resistors(2 330Ω and 3 47Ω)</a:t>
            </a:r>
            <a:endParaRPr>
              <a:solidFill>
                <a:schemeClr val="accent3"/>
              </a:solidFill>
              <a:latin typeface="Proxima Nova"/>
              <a:ea typeface="Proxima Nova"/>
              <a:cs typeface="Proxima Nova"/>
              <a:sym typeface="Proxima Nova"/>
            </a:endParaRPr>
          </a:p>
          <a:p>
            <a:pPr indent="-317500" lvl="0" marL="457200" rtl="0" algn="l">
              <a:spcBef>
                <a:spcPts val="0"/>
              </a:spcBef>
              <a:spcAft>
                <a:spcPts val="0"/>
              </a:spcAft>
              <a:buClr>
                <a:schemeClr val="accent3"/>
              </a:buClr>
              <a:buSzPts val="1400"/>
              <a:buFont typeface="Proxima Nova"/>
              <a:buChar char="●"/>
            </a:pPr>
            <a:r>
              <a:rPr lang="en">
                <a:solidFill>
                  <a:schemeClr val="accent3"/>
                </a:solidFill>
                <a:latin typeface="Proxima Nova"/>
                <a:ea typeface="Proxima Nova"/>
                <a:cs typeface="Proxima Nova"/>
                <a:sym typeface="Proxima Nova"/>
              </a:rPr>
              <a:t>2 Potentiometers (2 10kΩ)</a:t>
            </a:r>
            <a:endParaRPr>
              <a:solidFill>
                <a:schemeClr val="accent3"/>
              </a:solidFill>
              <a:latin typeface="Proxima Nova"/>
              <a:ea typeface="Proxima Nova"/>
              <a:cs typeface="Proxima Nova"/>
              <a:sym typeface="Proxima Nova"/>
            </a:endParaRPr>
          </a:p>
          <a:p>
            <a:pPr indent="-317500" lvl="0" marL="457200" rtl="0" algn="l">
              <a:spcBef>
                <a:spcPts val="0"/>
              </a:spcBef>
              <a:spcAft>
                <a:spcPts val="0"/>
              </a:spcAft>
              <a:buClr>
                <a:schemeClr val="accent3"/>
              </a:buClr>
              <a:buSzPts val="1400"/>
              <a:buFont typeface="Proxima Nova"/>
              <a:buChar char="●"/>
            </a:pPr>
            <a:r>
              <a:rPr lang="en">
                <a:solidFill>
                  <a:schemeClr val="accent3"/>
                </a:solidFill>
                <a:latin typeface="Proxima Nova"/>
                <a:ea typeface="Proxima Nova"/>
                <a:cs typeface="Proxima Nova"/>
                <a:sym typeface="Proxima Nova"/>
              </a:rPr>
              <a:t>3 LEDS</a:t>
            </a:r>
            <a:endParaRPr>
              <a:solidFill>
                <a:schemeClr val="accent3"/>
              </a:solidFill>
              <a:latin typeface="Proxima Nova"/>
              <a:ea typeface="Proxima Nova"/>
              <a:cs typeface="Proxima Nova"/>
              <a:sym typeface="Proxima Nova"/>
            </a:endParaRPr>
          </a:p>
          <a:p>
            <a:pPr indent="-317500" lvl="0" marL="457200" rtl="0" algn="l">
              <a:spcBef>
                <a:spcPts val="0"/>
              </a:spcBef>
              <a:spcAft>
                <a:spcPts val="0"/>
              </a:spcAft>
              <a:buClr>
                <a:schemeClr val="accent3"/>
              </a:buClr>
              <a:buSzPts val="1400"/>
              <a:buFont typeface="Proxima Nova"/>
              <a:buChar char="●"/>
            </a:pPr>
            <a:r>
              <a:rPr lang="en">
                <a:solidFill>
                  <a:schemeClr val="accent3"/>
                </a:solidFill>
                <a:latin typeface="Proxima Nova"/>
                <a:ea typeface="Proxima Nova"/>
                <a:cs typeface="Proxima Nova"/>
                <a:sym typeface="Proxima Nova"/>
              </a:rPr>
              <a:t>1 Comparator (LM339N)</a:t>
            </a:r>
            <a:endParaRPr>
              <a:solidFill>
                <a:schemeClr val="accent3"/>
              </a:solidFill>
              <a:latin typeface="Proxima Nova"/>
              <a:ea typeface="Proxima Nova"/>
              <a:cs typeface="Proxima Nova"/>
              <a:sym typeface="Proxima Nova"/>
            </a:endParaRPr>
          </a:p>
          <a:p>
            <a:pPr indent="-317500" lvl="0" marL="457200" rtl="0" algn="l">
              <a:spcBef>
                <a:spcPts val="0"/>
              </a:spcBef>
              <a:spcAft>
                <a:spcPts val="0"/>
              </a:spcAft>
              <a:buClr>
                <a:schemeClr val="accent3"/>
              </a:buClr>
              <a:buSzPts val="1400"/>
              <a:buFont typeface="Proxima Nova"/>
              <a:buChar char="●"/>
            </a:pPr>
            <a:r>
              <a:rPr lang="en">
                <a:solidFill>
                  <a:schemeClr val="accent3"/>
                </a:solidFill>
                <a:latin typeface="Proxima Nova"/>
                <a:ea typeface="Proxima Nova"/>
                <a:cs typeface="Proxima Nova"/>
                <a:sym typeface="Proxima Nova"/>
              </a:rPr>
              <a:t>1 Generator</a:t>
            </a:r>
            <a:endParaRPr>
              <a:solidFill>
                <a:schemeClr val="accent3"/>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256600" y="100050"/>
            <a:ext cx="4045200" cy="7479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How it Works</a:t>
            </a:r>
            <a:endParaRPr/>
          </a:p>
        </p:txBody>
      </p:sp>
      <p:sp>
        <p:nvSpPr>
          <p:cNvPr id="75" name="Google Shape;75;p15"/>
          <p:cNvSpPr txBox="1"/>
          <p:nvPr>
            <p:ph idx="1" type="subTitle"/>
          </p:nvPr>
        </p:nvSpPr>
        <p:spPr>
          <a:xfrm>
            <a:off x="256600" y="77175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Circuit Analysis</a:t>
            </a:r>
            <a:endParaRPr/>
          </a:p>
        </p:txBody>
      </p:sp>
      <p:sp>
        <p:nvSpPr>
          <p:cNvPr id="76" name="Google Shape;76;p15"/>
          <p:cNvSpPr txBox="1"/>
          <p:nvPr>
            <p:ph idx="2" type="body"/>
          </p:nvPr>
        </p:nvSpPr>
        <p:spPr>
          <a:xfrm>
            <a:off x="4810225" y="199400"/>
            <a:ext cx="4095600" cy="4557000"/>
          </a:xfrm>
          <a:prstGeom prst="rect">
            <a:avLst/>
          </a:prstGeom>
        </p:spPr>
        <p:txBody>
          <a:bodyPr anchorCtr="0" anchor="ctr" bIns="91425" lIns="91425" spcFirstLastPara="1" rIns="91425" wrap="square" tIns="91425">
            <a:normAutofit fontScale="32500"/>
          </a:bodyPr>
          <a:lstStyle/>
          <a:p>
            <a:pPr indent="0" lvl="0" marL="0" rtl="0" algn="just">
              <a:spcBef>
                <a:spcPts val="1200"/>
              </a:spcBef>
              <a:spcAft>
                <a:spcPts val="0"/>
              </a:spcAft>
              <a:buNone/>
            </a:pPr>
            <a:r>
              <a:rPr lang="en" sz="3086"/>
              <a:t>The wind turbine generates AC power by converting mechanical energy into electrical energy via the generator. This AC power is then converted to DC through a half-wave rectifier, which uses a diode to allow current to pass in only one direction. To smooth out the fluctuating DC output, a capacitor is added.</a:t>
            </a:r>
            <a:endParaRPr sz="3086"/>
          </a:p>
          <a:p>
            <a:pPr indent="0" lvl="0" marL="0" rtl="0" algn="just">
              <a:spcBef>
                <a:spcPts val="1200"/>
              </a:spcBef>
              <a:spcAft>
                <a:spcPts val="0"/>
              </a:spcAft>
              <a:buNone/>
            </a:pPr>
            <a:r>
              <a:rPr lang="en" sz="3086"/>
              <a:t>The smoothed DC output is then connected to a </a:t>
            </a:r>
            <a:r>
              <a:rPr lang="en" sz="3086"/>
              <a:t>transistor</a:t>
            </a:r>
            <a:r>
              <a:rPr lang="en" sz="3086"/>
              <a:t> and two comparators. When current flows into the transistor’s base, it triggers a larger current from the collector to the emitter, amplifying the current to control the brightness of a gradual LED. This allows us to visually track voltage changes through the LED.</a:t>
            </a:r>
            <a:endParaRPr sz="3086"/>
          </a:p>
          <a:p>
            <a:pPr indent="0" lvl="0" marL="0" rtl="0" algn="just">
              <a:spcBef>
                <a:spcPts val="1200"/>
              </a:spcBef>
              <a:spcAft>
                <a:spcPts val="0"/>
              </a:spcAft>
              <a:buNone/>
            </a:pPr>
            <a:r>
              <a:rPr lang="en" sz="3086"/>
              <a:t>The high-speed LED is controlled by one of the comparators, which compares the DC output (reference voltage) to the 4V source set by the potentiometer (input voltage). When the reference voltage (DC output) exceeds the voltage set by the potentiometer, the comparator outputs a low signal (false state), allowing current to flow and lighting the LED. For the low-speed indicator, the setup is reversed: the 4V source, regulated by the potentiometer, serves as the reference voltage, while the DC output acts as the input.</a:t>
            </a:r>
            <a:r>
              <a:rPr lang="en" sz="3086"/>
              <a:t> As the speed of the fan increases (AC voltage and DC voltage increases), Vin &gt; Vref and comparator outputs a high signal. Therefore, there will be no voltage drop across the low-speed indicator LED, thus is will turn off. </a:t>
            </a:r>
            <a:endParaRPr sz="3086"/>
          </a:p>
          <a:p>
            <a:pPr indent="0" lvl="0" marL="0" rtl="0" algn="l">
              <a:spcBef>
                <a:spcPts val="1200"/>
              </a:spcBef>
              <a:spcAft>
                <a:spcPts val="1200"/>
              </a:spcAft>
              <a:buNone/>
            </a:pPr>
            <a:r>
              <a:t/>
            </a:r>
            <a:endParaRPr/>
          </a:p>
        </p:txBody>
      </p:sp>
      <p:pic>
        <p:nvPicPr>
          <p:cNvPr id="77" name="Google Shape;77;p15"/>
          <p:cNvPicPr preferRelativeResize="0"/>
          <p:nvPr/>
        </p:nvPicPr>
        <p:blipFill rotWithShape="1">
          <a:blip r:embed="rId3">
            <a:alphaModFix/>
          </a:blip>
          <a:srcRect b="4076" l="2764" r="3838" t="0"/>
          <a:stretch/>
        </p:blipFill>
        <p:spPr>
          <a:xfrm>
            <a:off x="181400" y="1574175"/>
            <a:ext cx="4195599" cy="3137961"/>
          </a:xfrm>
          <a:prstGeom prst="rect">
            <a:avLst/>
          </a:prstGeom>
          <a:noFill/>
          <a:ln cap="flat" cmpd="sng" w="19050">
            <a:solidFill>
              <a:schemeClr val="dk1"/>
            </a:solidFill>
            <a:prstDash val="solid"/>
            <a:round/>
            <a:headEnd len="sm" w="sm" type="none"/>
            <a:tailEnd len="sm" w="sm" type="none"/>
          </a:ln>
        </p:spPr>
      </p:pic>
      <p:sp>
        <p:nvSpPr>
          <p:cNvPr id="78" name="Google Shape;78;p15"/>
          <p:cNvSpPr/>
          <p:nvPr/>
        </p:nvSpPr>
        <p:spPr>
          <a:xfrm>
            <a:off x="404525" y="2117250"/>
            <a:ext cx="1728900" cy="8775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79" name="Google Shape;79;p15"/>
          <p:cNvSpPr/>
          <p:nvPr/>
        </p:nvSpPr>
        <p:spPr>
          <a:xfrm>
            <a:off x="2394500" y="1605875"/>
            <a:ext cx="967800" cy="13890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80" name="Google Shape;80;p15"/>
          <p:cNvSpPr/>
          <p:nvPr/>
        </p:nvSpPr>
        <p:spPr>
          <a:xfrm>
            <a:off x="221975" y="3025500"/>
            <a:ext cx="1992900" cy="14724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81" name="Google Shape;81;p15"/>
          <p:cNvSpPr/>
          <p:nvPr/>
        </p:nvSpPr>
        <p:spPr>
          <a:xfrm>
            <a:off x="2394500" y="2994875"/>
            <a:ext cx="1941900" cy="1612500"/>
          </a:xfrm>
          <a:prstGeom prst="rect">
            <a:avLst/>
          </a:prstGeom>
          <a:noFill/>
          <a:ln cap="flat" cmpd="sng" w="1905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82" name="Google Shape;82;p15"/>
          <p:cNvSpPr txBox="1"/>
          <p:nvPr/>
        </p:nvSpPr>
        <p:spPr>
          <a:xfrm>
            <a:off x="3419425" y="2028825"/>
            <a:ext cx="834600" cy="6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u="sng">
                <a:solidFill>
                  <a:srgbClr val="0000FF"/>
                </a:solidFill>
                <a:latin typeface="Proxima Nova"/>
                <a:ea typeface="Proxima Nova"/>
                <a:cs typeface="Proxima Nova"/>
                <a:sym typeface="Proxima Nova"/>
              </a:rPr>
              <a:t>Gradual</a:t>
            </a:r>
            <a:endParaRPr sz="1300" u="sng">
              <a:solidFill>
                <a:srgbClr val="0000FF"/>
              </a:solidFill>
              <a:latin typeface="Proxima Nova"/>
              <a:ea typeface="Proxima Nova"/>
              <a:cs typeface="Proxima Nova"/>
              <a:sym typeface="Proxima Nova"/>
            </a:endParaRPr>
          </a:p>
        </p:txBody>
      </p:sp>
      <p:sp>
        <p:nvSpPr>
          <p:cNvPr id="83" name="Google Shape;83;p15"/>
          <p:cNvSpPr txBox="1"/>
          <p:nvPr/>
        </p:nvSpPr>
        <p:spPr>
          <a:xfrm>
            <a:off x="450925" y="1714500"/>
            <a:ext cx="1824000" cy="6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u="sng">
                <a:solidFill>
                  <a:schemeClr val="dk2"/>
                </a:solidFill>
                <a:latin typeface="Proxima Nova"/>
                <a:ea typeface="Proxima Nova"/>
                <a:cs typeface="Proxima Nova"/>
                <a:sym typeface="Proxima Nova"/>
              </a:rPr>
              <a:t>Half-Wave Rectifier</a:t>
            </a:r>
            <a:endParaRPr sz="1300" u="sng">
              <a:solidFill>
                <a:schemeClr val="dk2"/>
              </a:solidFill>
              <a:latin typeface="Proxima Nova"/>
              <a:ea typeface="Proxima Nova"/>
              <a:cs typeface="Proxima Nova"/>
              <a:sym typeface="Proxima Nova"/>
            </a:endParaRPr>
          </a:p>
        </p:txBody>
      </p:sp>
      <p:sp>
        <p:nvSpPr>
          <p:cNvPr id="84" name="Google Shape;84;p15"/>
          <p:cNvSpPr txBox="1"/>
          <p:nvPr/>
        </p:nvSpPr>
        <p:spPr>
          <a:xfrm>
            <a:off x="221975" y="3857700"/>
            <a:ext cx="834600" cy="6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u="sng">
                <a:solidFill>
                  <a:srgbClr val="FF9900"/>
                </a:solidFill>
                <a:latin typeface="Proxima Nova"/>
                <a:ea typeface="Proxima Nova"/>
                <a:cs typeface="Proxima Nova"/>
                <a:sym typeface="Proxima Nova"/>
              </a:rPr>
              <a:t>High Speed</a:t>
            </a:r>
            <a:endParaRPr sz="1300" u="sng">
              <a:solidFill>
                <a:srgbClr val="FF9900"/>
              </a:solidFill>
              <a:latin typeface="Proxima Nova"/>
              <a:ea typeface="Proxima Nova"/>
              <a:cs typeface="Proxima Nova"/>
              <a:sym typeface="Proxima Nova"/>
            </a:endParaRPr>
          </a:p>
        </p:txBody>
      </p:sp>
      <p:sp>
        <p:nvSpPr>
          <p:cNvPr id="85" name="Google Shape;85;p15"/>
          <p:cNvSpPr txBox="1"/>
          <p:nvPr/>
        </p:nvSpPr>
        <p:spPr>
          <a:xfrm>
            <a:off x="3597700" y="3967175"/>
            <a:ext cx="834600" cy="6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u="sng">
                <a:solidFill>
                  <a:srgbClr val="9900FF"/>
                </a:solidFill>
                <a:latin typeface="Proxima Nova"/>
                <a:ea typeface="Proxima Nova"/>
                <a:cs typeface="Proxima Nova"/>
                <a:sym typeface="Proxima Nova"/>
              </a:rPr>
              <a:t>Low Speed</a:t>
            </a:r>
            <a:endParaRPr sz="1300" u="sng">
              <a:solidFill>
                <a:srgbClr val="9900FF"/>
              </a:solidFill>
              <a:latin typeface="Proxima Nova"/>
              <a:ea typeface="Proxima Nova"/>
              <a:cs typeface="Proxima Nova"/>
              <a:sym typeface="Proxima Nov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title"/>
          </p:nvPr>
        </p:nvSpPr>
        <p:spPr>
          <a:xfrm>
            <a:off x="431550" y="257175"/>
            <a:ext cx="8280900" cy="855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3900"/>
              <a:t>Experimental Data and Evaluation</a:t>
            </a:r>
            <a:endParaRPr sz="3900"/>
          </a:p>
        </p:txBody>
      </p:sp>
      <p:graphicFrame>
        <p:nvGraphicFramePr>
          <p:cNvPr id="91" name="Google Shape;91;p16"/>
          <p:cNvGraphicFramePr/>
          <p:nvPr/>
        </p:nvGraphicFramePr>
        <p:xfrm>
          <a:off x="914025" y="1202275"/>
          <a:ext cx="3000000" cy="3000000"/>
        </p:xfrm>
        <a:graphic>
          <a:graphicData uri="http://schemas.openxmlformats.org/drawingml/2006/table">
            <a:tbl>
              <a:tblPr>
                <a:noFill/>
                <a:tableStyleId>{9E2A1CBE-B525-41E7-9BD4-B9B5025257A0}</a:tableStyleId>
              </a:tblPr>
              <a:tblGrid>
                <a:gridCol w="1809750"/>
                <a:gridCol w="1809750"/>
                <a:gridCol w="1809750"/>
                <a:gridCol w="1809750"/>
              </a:tblGrid>
              <a:tr h="381000">
                <a:tc>
                  <a:txBody>
                    <a:bodyPr/>
                    <a:lstStyle/>
                    <a:p>
                      <a:pPr indent="0" lvl="0" marL="0" rtl="0" algn="ctr">
                        <a:spcBef>
                          <a:spcPts val="0"/>
                        </a:spcBef>
                        <a:spcAft>
                          <a:spcPts val="0"/>
                        </a:spcAft>
                        <a:buNone/>
                      </a:pPr>
                      <a:r>
                        <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1"/>
                          </a:solidFill>
                        </a:rPr>
                        <a:t>Low</a:t>
                      </a:r>
                      <a:endParaRPr b="1">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1"/>
                          </a:solidFill>
                        </a:rPr>
                        <a:t>Middle</a:t>
                      </a:r>
                      <a:endParaRPr b="1">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1"/>
                          </a:solidFill>
                        </a:rPr>
                        <a:t>High</a:t>
                      </a:r>
                      <a:endParaRPr b="1">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solidFill>
                            <a:schemeClr val="dk1"/>
                          </a:solidFill>
                        </a:rPr>
                        <a:t>DC</a:t>
                      </a:r>
                      <a:endParaRPr b="1">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t>0 - 0.85 V</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t>0.85 - 1.47 V</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t>1.47 - Infinity V</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solidFill>
                            <a:schemeClr val="dk1"/>
                          </a:solidFill>
                        </a:rPr>
                        <a:t>AC</a:t>
                      </a:r>
                      <a:endParaRPr b="1">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0 - 1.97 V</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1.97 - 2.65 V</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2.65 - Infinity V</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92" name="Google Shape;92;p16"/>
          <p:cNvSpPr txBox="1"/>
          <p:nvPr/>
        </p:nvSpPr>
        <p:spPr>
          <a:xfrm>
            <a:off x="575550" y="2571750"/>
            <a:ext cx="8136900" cy="68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Proxima Nova"/>
                <a:ea typeface="Proxima Nova"/>
                <a:cs typeface="Proxima Nova"/>
                <a:sym typeface="Proxima Nova"/>
              </a:rPr>
              <a:t>The circuit design worked as expected. </a:t>
            </a:r>
            <a:r>
              <a:rPr lang="en" sz="1600">
                <a:solidFill>
                  <a:schemeClr val="dk1"/>
                </a:solidFill>
                <a:latin typeface="Proxima Nova"/>
                <a:ea typeface="Proxima Nova"/>
                <a:cs typeface="Proxima Nova"/>
                <a:sym typeface="Proxima Nova"/>
              </a:rPr>
              <a:t>Thresholds for each values were taken using the multimeter. </a:t>
            </a:r>
            <a:r>
              <a:rPr lang="en" sz="1600">
                <a:solidFill>
                  <a:schemeClr val="dk1"/>
                </a:solidFill>
                <a:latin typeface="Proxima Nova"/>
                <a:ea typeface="Proxima Nova"/>
                <a:cs typeface="Proxima Nova"/>
                <a:sym typeface="Proxima Nova"/>
              </a:rPr>
              <a:t>When the fan is not spinning, the low speed LED is on until the DC output voltage reached 0.85 V. As the speed increases, the AC and DC voltage output increases. The period termed as “middle” speed is where both </a:t>
            </a:r>
            <a:r>
              <a:rPr lang="en" sz="1600">
                <a:solidFill>
                  <a:schemeClr val="dk1"/>
                </a:solidFill>
                <a:latin typeface="Proxima Nova"/>
                <a:ea typeface="Proxima Nova"/>
                <a:cs typeface="Proxima Nova"/>
                <a:sym typeface="Proxima Nova"/>
              </a:rPr>
              <a:t>LEDs</a:t>
            </a:r>
            <a:r>
              <a:rPr lang="en" sz="1600">
                <a:solidFill>
                  <a:schemeClr val="dk1"/>
                </a:solidFill>
                <a:latin typeface="Proxima Nova"/>
                <a:ea typeface="Proxima Nova"/>
                <a:cs typeface="Proxima Nova"/>
                <a:sym typeface="Proxima Nova"/>
              </a:rPr>
              <a:t> are switched off before the high LED turns on. Once the DC </a:t>
            </a:r>
            <a:r>
              <a:rPr lang="en" sz="1600">
                <a:solidFill>
                  <a:schemeClr val="dk1"/>
                </a:solidFill>
                <a:latin typeface="Proxima Nova"/>
                <a:ea typeface="Proxima Nova"/>
                <a:cs typeface="Proxima Nova"/>
                <a:sym typeface="Proxima Nova"/>
              </a:rPr>
              <a:t>voltage</a:t>
            </a:r>
            <a:r>
              <a:rPr lang="en" sz="1600">
                <a:solidFill>
                  <a:schemeClr val="dk1"/>
                </a:solidFill>
                <a:latin typeface="Proxima Nova"/>
                <a:ea typeface="Proxima Nova"/>
                <a:cs typeface="Proxima Nova"/>
                <a:sym typeface="Proxima Nova"/>
              </a:rPr>
              <a:t> reaches 1.47 V, the high voltage light turns on and stays on as the speed of the fan reaches its maximum. </a:t>
            </a:r>
            <a:endParaRPr sz="1600">
              <a:solidFill>
                <a:schemeClr val="dk1"/>
              </a:solidFill>
              <a:latin typeface="Proxima Nova"/>
              <a:ea typeface="Proxima Nova"/>
              <a:cs typeface="Proxima Nova"/>
              <a:sym typeface="Proxima Nov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title"/>
          </p:nvPr>
        </p:nvSpPr>
        <p:spPr>
          <a:xfrm>
            <a:off x="311700" y="2164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020"/>
              <a:t>Video of Functioning Circuit</a:t>
            </a:r>
            <a:endParaRPr sz="3020"/>
          </a:p>
        </p:txBody>
      </p:sp>
      <p:pic>
        <p:nvPicPr>
          <p:cNvPr id="98" name="Google Shape;98;p17" title="IMG_6206.MOV">
            <a:hlinkClick r:id="rId3"/>
          </p:cNvPr>
          <p:cNvPicPr preferRelativeResize="0"/>
          <p:nvPr/>
        </p:nvPicPr>
        <p:blipFill>
          <a:blip r:embed="rId4">
            <a:alphaModFix/>
          </a:blip>
          <a:stretch>
            <a:fillRect/>
          </a:stretch>
        </p:blipFill>
        <p:spPr>
          <a:xfrm>
            <a:off x="1441400" y="1054350"/>
            <a:ext cx="6261202" cy="35219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1000"/>
                                        <p:tgtEl>
                                          <p:spTgt spid="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311700" y="1295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4000">
                <a:latin typeface="Share Tech"/>
                <a:ea typeface="Share Tech"/>
                <a:cs typeface="Share Tech"/>
                <a:sym typeface="Share Tech"/>
              </a:rPr>
              <a:t>Key Takeaways</a:t>
            </a:r>
            <a:endParaRPr sz="4000">
              <a:latin typeface="Share Tech"/>
              <a:ea typeface="Share Tech"/>
              <a:cs typeface="Share Tech"/>
              <a:sym typeface="Share Tech"/>
            </a:endParaRPr>
          </a:p>
          <a:p>
            <a:pPr indent="0" lvl="0" marL="0" rtl="0" algn="l">
              <a:spcBef>
                <a:spcPts val="0"/>
              </a:spcBef>
              <a:spcAft>
                <a:spcPts val="0"/>
              </a:spcAft>
              <a:buNone/>
            </a:pPr>
            <a:r>
              <a:t/>
            </a:r>
            <a:endParaRPr/>
          </a:p>
        </p:txBody>
      </p:sp>
      <p:sp>
        <p:nvSpPr>
          <p:cNvPr id="104" name="Google Shape;104;p18"/>
          <p:cNvSpPr txBox="1"/>
          <p:nvPr/>
        </p:nvSpPr>
        <p:spPr>
          <a:xfrm>
            <a:off x="552000" y="810975"/>
            <a:ext cx="8040000" cy="68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50">
                <a:solidFill>
                  <a:schemeClr val="dk1"/>
                </a:solidFill>
                <a:latin typeface="Proxima Nova"/>
                <a:ea typeface="Proxima Nova"/>
                <a:cs typeface="Proxima Nova"/>
                <a:sym typeface="Proxima Nova"/>
              </a:rPr>
              <a:t>Difficult</a:t>
            </a:r>
            <a:r>
              <a:rPr b="1" lang="en" sz="1350">
                <a:solidFill>
                  <a:schemeClr val="dk1"/>
                </a:solidFill>
                <a:latin typeface="Proxima Nova"/>
                <a:ea typeface="Proxima Nova"/>
                <a:cs typeface="Proxima Nova"/>
                <a:sym typeface="Proxima Nova"/>
              </a:rPr>
              <a:t> Encounters:</a:t>
            </a:r>
            <a:endParaRPr b="1" sz="1350">
              <a:solidFill>
                <a:schemeClr val="dk1"/>
              </a:solidFill>
              <a:latin typeface="Proxima Nova"/>
              <a:ea typeface="Proxima Nova"/>
              <a:cs typeface="Proxima Nova"/>
              <a:sym typeface="Proxima Nova"/>
            </a:endParaRPr>
          </a:p>
          <a:p>
            <a:pPr indent="-314325" lvl="0" marL="457200" rtl="0" algn="l">
              <a:spcBef>
                <a:spcPts val="0"/>
              </a:spcBef>
              <a:spcAft>
                <a:spcPts val="0"/>
              </a:spcAft>
              <a:buClr>
                <a:schemeClr val="dk1"/>
              </a:buClr>
              <a:buSzPts val="1350"/>
              <a:buFont typeface="Proxima Nova"/>
              <a:buChar char="●"/>
            </a:pPr>
            <a:r>
              <a:rPr lang="en" sz="1350">
                <a:solidFill>
                  <a:schemeClr val="dk1"/>
                </a:solidFill>
                <a:latin typeface="Proxima Nova"/>
                <a:ea typeface="Proxima Nova"/>
                <a:cs typeface="Proxima Nova"/>
                <a:sym typeface="Proxima Nova"/>
              </a:rPr>
              <a:t>Flickering and </a:t>
            </a:r>
            <a:r>
              <a:rPr lang="en" sz="1350">
                <a:solidFill>
                  <a:schemeClr val="dk1"/>
                </a:solidFill>
                <a:latin typeface="Proxima Nova"/>
                <a:ea typeface="Proxima Nova"/>
                <a:cs typeface="Proxima Nova"/>
                <a:sym typeface="Proxima Nova"/>
              </a:rPr>
              <a:t>sensitive</a:t>
            </a:r>
            <a:r>
              <a:rPr lang="en" sz="1350">
                <a:solidFill>
                  <a:schemeClr val="dk1"/>
                </a:solidFill>
                <a:latin typeface="Proxima Nova"/>
                <a:ea typeface="Proxima Nova"/>
                <a:cs typeface="Proxima Nova"/>
                <a:sym typeface="Proxima Nova"/>
              </a:rPr>
              <a:t> gradual LED </a:t>
            </a:r>
            <a:endParaRPr sz="1350">
              <a:solidFill>
                <a:schemeClr val="dk1"/>
              </a:solidFill>
              <a:latin typeface="Proxima Nova"/>
              <a:ea typeface="Proxima Nova"/>
              <a:cs typeface="Proxima Nova"/>
              <a:sym typeface="Proxima Nova"/>
            </a:endParaRPr>
          </a:p>
          <a:p>
            <a:pPr indent="-314325" lvl="0" marL="457200" rtl="0" algn="l">
              <a:spcBef>
                <a:spcPts val="0"/>
              </a:spcBef>
              <a:spcAft>
                <a:spcPts val="0"/>
              </a:spcAft>
              <a:buClr>
                <a:schemeClr val="dk1"/>
              </a:buClr>
              <a:buSzPts val="1350"/>
              <a:buFont typeface="Proxima Nova"/>
              <a:buChar char="●"/>
            </a:pPr>
            <a:r>
              <a:rPr lang="en" sz="1350">
                <a:solidFill>
                  <a:schemeClr val="dk1"/>
                </a:solidFill>
                <a:latin typeface="Proxima Nova"/>
                <a:ea typeface="Proxima Nova"/>
                <a:cs typeface="Proxima Nova"/>
                <a:sym typeface="Proxima Nova"/>
              </a:rPr>
              <a:t>Adjusting the </a:t>
            </a:r>
            <a:r>
              <a:rPr lang="en" sz="1350">
                <a:solidFill>
                  <a:schemeClr val="dk1"/>
                </a:solidFill>
                <a:latin typeface="Proxima Nova"/>
                <a:ea typeface="Proxima Nova"/>
                <a:cs typeface="Proxima Nova"/>
                <a:sym typeface="Proxima Nova"/>
              </a:rPr>
              <a:t>potentiometer</a:t>
            </a:r>
            <a:r>
              <a:rPr lang="en" sz="1350">
                <a:solidFill>
                  <a:schemeClr val="dk1"/>
                </a:solidFill>
                <a:latin typeface="Proxima Nova"/>
                <a:ea typeface="Proxima Nova"/>
                <a:cs typeface="Proxima Nova"/>
                <a:sym typeface="Proxima Nova"/>
              </a:rPr>
              <a:t> setting to hit high speed and low speed bounds</a:t>
            </a:r>
            <a:endParaRPr sz="135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b="1" sz="1350">
              <a:solidFill>
                <a:schemeClr val="dk1"/>
              </a:solidFill>
              <a:latin typeface="Proxima Nova"/>
              <a:ea typeface="Proxima Nova"/>
              <a:cs typeface="Proxima Nova"/>
              <a:sym typeface="Proxima Nova"/>
            </a:endParaRPr>
          </a:p>
          <a:p>
            <a:pPr indent="0" lvl="0" marL="0" rtl="0" algn="l">
              <a:spcBef>
                <a:spcPts val="0"/>
              </a:spcBef>
              <a:spcAft>
                <a:spcPts val="0"/>
              </a:spcAft>
              <a:buNone/>
            </a:pPr>
            <a:r>
              <a:rPr b="1" lang="en" sz="1350">
                <a:solidFill>
                  <a:schemeClr val="dk1"/>
                </a:solidFill>
                <a:latin typeface="Proxima Nova"/>
                <a:ea typeface="Proxima Nova"/>
                <a:cs typeface="Proxima Nova"/>
                <a:sym typeface="Proxima Nova"/>
              </a:rPr>
              <a:t>Lessons Learned:</a:t>
            </a:r>
            <a:endParaRPr b="1" sz="135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350">
                <a:solidFill>
                  <a:schemeClr val="dk1"/>
                </a:solidFill>
                <a:latin typeface="Proxima Nova"/>
                <a:ea typeface="Proxima Nova"/>
                <a:cs typeface="Proxima Nova"/>
                <a:sym typeface="Proxima Nova"/>
              </a:rPr>
              <a:t>Adding a higher </a:t>
            </a:r>
            <a:r>
              <a:rPr lang="en" sz="1350">
                <a:solidFill>
                  <a:schemeClr val="dk1"/>
                </a:solidFill>
                <a:latin typeface="Proxima Nova"/>
                <a:ea typeface="Proxima Nova"/>
                <a:cs typeface="Proxima Nova"/>
                <a:sym typeface="Proxima Nova"/>
              </a:rPr>
              <a:t>capacitance, further smoothens the AC voltage when converting to to DC. This helps with the possible flickering of the gradual LED, allowing for a smooth transition as the fan speed differs. To adjust the sensitivity on the gradual LED, we can adjust the resistance in the circuit to allow for less current to pass through the base when the fan first begins to spin. In addition, we learned how to use multiple comparators within a single chip to simplify out circuit display. </a:t>
            </a:r>
            <a:endParaRPr sz="135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b="1" sz="1350">
              <a:solidFill>
                <a:schemeClr val="dk1"/>
              </a:solidFill>
              <a:latin typeface="Proxima Nova"/>
              <a:ea typeface="Proxima Nova"/>
              <a:cs typeface="Proxima Nova"/>
              <a:sym typeface="Proxima Nova"/>
            </a:endParaRPr>
          </a:p>
          <a:p>
            <a:pPr indent="0" lvl="0" marL="0" rtl="0" algn="l">
              <a:spcBef>
                <a:spcPts val="0"/>
              </a:spcBef>
              <a:spcAft>
                <a:spcPts val="0"/>
              </a:spcAft>
              <a:buNone/>
            </a:pPr>
            <a:r>
              <a:rPr b="1" lang="en" sz="1350">
                <a:solidFill>
                  <a:schemeClr val="dk1"/>
                </a:solidFill>
                <a:latin typeface="Proxima Nova"/>
                <a:ea typeface="Proxima Nova"/>
                <a:cs typeface="Proxima Nova"/>
                <a:sym typeface="Proxima Nova"/>
              </a:rPr>
              <a:t>Conclusions:</a:t>
            </a:r>
            <a:endParaRPr b="1" sz="135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350">
                <a:solidFill>
                  <a:schemeClr val="dk1"/>
                </a:solidFill>
                <a:latin typeface="Proxima Nova"/>
                <a:ea typeface="Proxima Nova"/>
                <a:cs typeface="Proxima Nova"/>
                <a:sym typeface="Proxima Nova"/>
              </a:rPr>
              <a:t>Through this project, we were able to understand the design process of a multifunctional circuit. First, using a software like multisim can be helpful to create a design to meet general requirements. Then, during the implementation and testing phase, we can manipulate parameters like resistances or potentiometer settings to achieve functionality specifications. The skills learned in the process of preparing this circuit and designing it to fit the specifications required are some that can be applied to many other situations delving into mechatronic system design and analysis. </a:t>
            </a:r>
            <a:endParaRPr sz="1350">
              <a:solidFill>
                <a:schemeClr val="dk1"/>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